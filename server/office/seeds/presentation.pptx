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balt rail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Deck label"/>
          <p:cNvSpPr txBox="1"/>
          <p:nvPr/>
        </p:nvSpPr>
        <p:spPr>
          <a:xfrm>
            <a:off x="762000" y="533400"/>
            <a:ext cx="2971800" cy="42672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BETTEROFFICE  /  OPEN OOXML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219200"/>
            <a:ext cx="6096000" cy="1981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4400" b="1">
                <a:solidFill>
                  <a:srgbClr val="101828"/>
                </a:solidFill>
                <a:latin typeface="Arial"/>
              </a:rPr>
              <a:t>Office files,</a:t>
            </a:r>
            <a:endParaRPr lang="en-US" sz="1800"/>
          </a:p>
          <a:p>
            <a:pPr algn="l" lvl="0"/>
            <a:r>
              <a:rPr lang="en-US" sz="4400" b="1">
                <a:solidFill>
                  <a:srgbClr val="315EFB"/>
                </a:solidFill>
                <a:latin typeface="Arial"/>
              </a:rPr>
              <a:t>without the office.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3276600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700">
                <a:solidFill>
                  <a:srgbClr val="475467"/>
                </a:solidFill>
                <a:latin typeface="Arial"/>
              </a:rPr>
              <a:t>A Rust-native editing engine for DOCX, XLSX, and PPTX. Local-first, collaborative, and entirely yours.</a:t>
            </a:r>
            <a:endParaRPr lang="en-US" sz="1800"/>
          </a:p>
        </p:txBody>
      </p:sp>
      <p:sp>
        <p:nvSpPr>
          <p:cNvPr id="6" name="WASM label"/>
          <p:cNvSpPr txBox="1"/>
          <p:nvPr/>
        </p:nvSpPr>
        <p:spPr>
          <a:xfrm>
            <a:off x="762000" y="4572000"/>
            <a:ext cx="1188720" cy="48768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WASM</a:t>
            </a:r>
            <a:endParaRPr lang="en-US" sz="1800"/>
          </a:p>
        </p:txBody>
      </p:sp>
      <p:sp>
        <p:nvSpPr>
          <p:cNvPr id="7" name="CRDT label"/>
          <p:cNvSpPr txBox="1"/>
          <p:nvPr/>
        </p:nvSpPr>
        <p:spPr>
          <a:xfrm>
            <a:off x="2096760" y="4572000"/>
            <a:ext cx="1188720" cy="48768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101828"/>
                </a:solidFill>
                <a:latin typeface="Arial"/>
              </a:rPr>
              <a:t>CRDT</a:t>
            </a:r>
            <a:endParaRPr lang="en-US" sz="1800"/>
          </a:p>
        </p:txBody>
      </p:sp>
      <p:sp>
        <p:nvSpPr>
          <p:cNvPr id="8" name="No uploads label"/>
          <p:cNvSpPr txBox="1"/>
          <p:nvPr/>
        </p:nvSpPr>
        <p:spPr>
          <a:xfrm>
            <a:off x="3431520" y="4572000"/>
            <a:ext cx="1752600" cy="48768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00" b="1">
                <a:solidFill>
                  <a:srgbClr val="FFFFFF"/>
                </a:solidFill>
                <a:latin typeface="Arial"/>
              </a:rPr>
              <a:t>NO UPLOADS</a:t>
            </a:r>
            <a:endParaRPr lang="en-US" sz="1800"/>
          </a:p>
        </p:txBody>
      </p:sp>
      <p:sp>
        <p:nvSpPr>
          <p:cNvPr id="9" name="Cover statement"/>
          <p:cNvSpPr txBox="1"/>
          <p:nvPr/>
        </p:nvSpPr>
        <p:spPr>
          <a:xfrm>
            <a:off x="762000" y="53340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100" b="1">
                <a:solidFill>
                  <a:srgbClr val="667085"/>
                </a:solidFill>
                <a:latin typeface="Arial"/>
              </a:rPr>
              <a:t>Parse. Edit. Collaborate. Render. All in one resident model.</a:t>
            </a:r>
            <a:endParaRPr lang="en-US" sz="1800"/>
          </a:p>
        </p:txBody>
      </p:sp>
      <p:grpSp>
        <p:nvGrpSpPr>
          <p:cNvPr id="10" name="BetterOffice editor preview"/>
          <p:cNvGrpSpPr/>
          <p:nvPr/>
        </p:nvGrpSpPr>
        <p:grpSpPr>
          <a:xfrm>
            <a:off x="7112000" y="610000"/>
            <a:ext cx="4320000" cy="5480000"/>
            <a:chOff x="0" y="0"/>
            <a:chExt cx="4320000" cy="5480000"/>
          </a:xfrm>
        </p:grpSpPr>
        <p:sp>
          <p:nvSpPr>
            <p:cNvPr id="11" name="Preview field"/>
            <p:cNvSpPr/>
            <p:nvPr/>
          </p:nvSpPr>
          <p:spPr>
            <a:xfrm>
              <a:off x="0" y="0"/>
              <a:ext cx="4320000" cy="5480000"/>
            </a:xfrm>
            <a:prstGeom prst="roundRect">
              <a:avLst/>
            </a:prstGeom>
            <a:solidFill>
              <a:srgbClr val="E6EBFF"/>
            </a:solidFill>
            <a:ln>
              <a:noFill/>
            </a:ln>
          </p:spPr>
        </p:sp>
        <p:sp>
          <p:nvSpPr>
            <p:cNvPr id="12" name="Preview accent"/>
            <p:cNvSpPr/>
            <p:nvPr/>
          </p:nvSpPr>
          <p:spPr>
            <a:xfrm>
              <a:off x="3100000" y="0"/>
              <a:ext cx="1220000" cy="5480000"/>
            </a:xfrm>
            <a:prstGeom prst="roundRect">
              <a:avLst/>
            </a:prstGeom>
            <a:solidFill>
              <a:srgbClr val="315EFB"/>
            </a:solidFill>
            <a:ln>
              <a:noFill/>
            </a:ln>
          </p:spPr>
        </p:sp>
        <p:sp>
          <p:nvSpPr>
            <p:cNvPr id="13" name="Editor window"/>
            <p:cNvSpPr/>
            <p:nvPr/>
          </p:nvSpPr>
          <p:spPr>
            <a:xfrm>
              <a:off x="360000" y="520000"/>
              <a:ext cx="3380000" cy="3860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C7D1FF"/>
              </a:solidFill>
            </a:ln>
          </p:spPr>
        </p:sp>
        <p:sp>
          <p:nvSpPr>
            <p:cNvPr id="14" name="Window dot coral"/>
            <p:cNvSpPr/>
            <p:nvPr/>
          </p:nvSpPr>
          <p:spPr>
            <a:xfrm>
              <a:off x="620000" y="760000"/>
              <a:ext cx="105000" cy="105000"/>
            </a:xfrm>
            <a:prstGeom prst="ellipse">
              <a:avLst/>
            </a:prstGeom>
            <a:solidFill>
              <a:srgbClr val="FF8066"/>
            </a:solidFill>
            <a:ln>
              <a:noFill/>
            </a:ln>
          </p:spPr>
        </p:sp>
        <p:sp>
          <p:nvSpPr>
            <p:cNvPr id="15" name="Window dot gold"/>
            <p:cNvSpPr/>
            <p:nvPr/>
          </p:nvSpPr>
          <p:spPr>
            <a:xfrm>
              <a:off x="780000" y="760000"/>
              <a:ext cx="105000" cy="105000"/>
            </a:xfrm>
            <a:prstGeom prst="ellipse">
              <a:avLst/>
            </a:prstGeom>
            <a:solidFill>
              <a:srgbClr val="F9C74F"/>
            </a:solidFill>
            <a:ln>
              <a:noFill/>
            </a:ln>
          </p:spPr>
        </p:sp>
        <p:sp>
          <p:nvSpPr>
            <p:cNvPr id="16" name="Window dot mint"/>
            <p:cNvSpPr/>
            <p:nvPr/>
          </p:nvSpPr>
          <p:spPr>
            <a:xfrm>
              <a:off x="940000" y="760000"/>
              <a:ext cx="105000" cy="1050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7" name="Window address"/>
            <p:cNvSpPr txBox="1"/>
            <p:nvPr/>
          </p:nvSpPr>
          <p:spPr>
            <a:xfrm>
              <a:off x="1160000" y="690000"/>
              <a:ext cx="2080000" cy="2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l" lvl="0"/>
              <a:r>
                <a:rPr lang="en-US" sz="820" b="1">
                  <a:solidFill>
                    <a:srgbClr val="667085"/>
                  </a:solidFill>
                  <a:latin typeface="Arial"/>
                </a:rPr>
                <a:t>betteroffice.dev / deck.pptx</a:t>
              </a:r>
              <a:endParaRPr lang="en-US" sz="1800"/>
            </a:p>
          </p:txBody>
        </p:sp>
        <p:sp>
          <p:nvSpPr>
            <p:cNvPr id="18" name="Preview title"/>
            <p:cNvSpPr txBox="1"/>
            <p:nvPr/>
          </p:nvSpPr>
          <p:spPr>
            <a:xfrm>
              <a:off x="650000" y="1320000"/>
              <a:ext cx="2550000" cy="98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400" tIns="91440" rIns="152400" bIns="91440" anchor="t"/>
            <a:lstStyle/>
            <a:p>
              <a:pPr algn="l" lvl="0"/>
              <a:r>
                <a:rPr lang="en-US" sz="2100" b="1">
                  <a:solidFill>
                    <a:srgbClr val="101828"/>
                  </a:solidFill>
                  <a:latin typeface="Arial"/>
                </a:rPr>
                <a:t>Ship ideas,</a:t>
              </a:r>
              <a:endParaRPr lang="en-US" sz="1800"/>
            </a:p>
            <a:p>
              <a:pPr algn="l" lvl="0"/>
              <a:r>
                <a:rPr lang="en-US" sz="2100" b="1">
                  <a:solidFill>
                    <a:srgbClr val="315EFB"/>
                  </a:solidFill>
                  <a:latin typeface="Arial"/>
                </a:rPr>
                <a:t>not attachments.</a:t>
              </a:r>
              <a:endParaRPr lang="en-US" sz="1800"/>
            </a:p>
          </p:txBody>
        </p:sp>
        <p:sp>
          <p:nvSpPr>
            <p:cNvPr id="19" name="Preview rule one"/>
            <p:cNvSpPr/>
            <p:nvPr/>
          </p:nvSpPr>
          <p:spPr>
            <a:xfrm>
              <a:off x="650000" y="2520000"/>
              <a:ext cx="222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0" name="Preview rule two"/>
            <p:cNvSpPr/>
            <p:nvPr/>
          </p:nvSpPr>
          <p:spPr>
            <a:xfrm>
              <a:off x="650000" y="2770000"/>
              <a:ext cx="1670000" cy="105000"/>
            </a:xfrm>
            <a:prstGeom prst="roundRect">
              <a:avLst/>
            </a:prstGeom>
            <a:solidFill>
              <a:srgbClr val="D0D5DD"/>
            </a:solidFill>
            <a:ln>
              <a:noFill/>
            </a:ln>
          </p:spPr>
        </p:sp>
        <p:sp>
          <p:nvSpPr>
            <p:cNvPr id="21" name="Local badge"/>
            <p:cNvSpPr txBox="1"/>
            <p:nvPr/>
          </p:nvSpPr>
          <p:spPr>
            <a:xfrm>
              <a:off x="650000" y="3230000"/>
              <a:ext cx="1550000" cy="52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900" b="1">
                  <a:solidFill>
                    <a:srgbClr val="101828"/>
                  </a:solidFill>
                  <a:latin typeface="Arial"/>
                </a:rPr>
                <a:t>LOCAL-FIRST</a:t>
              </a:r>
              <a:endParaRPr lang="en-US" sz="1800"/>
            </a:p>
          </p:txBody>
        </p:sp>
        <p:sp>
          <p:nvSpPr>
            <p:cNvPr id="22" name="DOCX tab"/>
            <p:cNvSpPr txBox="1"/>
            <p:nvPr/>
          </p:nvSpPr>
          <p:spPr>
            <a:xfrm>
              <a:off x="180000" y="4610000"/>
              <a:ext cx="1160000" cy="560000"/>
            </a:xfrm>
            <a:prstGeom prst="roundRect">
              <a:avLst/>
            </a:prstGeom>
            <a:solidFill>
              <a:srgbClr val="101828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FFFFFF"/>
                  </a:solidFill>
                  <a:latin typeface="Arial"/>
                </a:rPr>
                <a:t>DOCX</a:t>
              </a:r>
              <a:endParaRPr lang="en-US" sz="1800"/>
            </a:p>
          </p:txBody>
        </p:sp>
        <p:sp>
          <p:nvSpPr>
            <p:cNvPr id="23" name="XLSX tab"/>
            <p:cNvSpPr txBox="1"/>
            <p:nvPr/>
          </p:nvSpPr>
          <p:spPr>
            <a:xfrm>
              <a:off x="1570000" y="4610000"/>
              <a:ext cx="1160000" cy="560000"/>
            </a:xfrm>
            <a:prstGeom prst="roundRect">
              <a:avLst/>
            </a:prstGeom>
            <a:solidFill>
              <a:srgbClr val="C8F56A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XLSX</a:t>
              </a:r>
              <a:endParaRPr lang="en-US" sz="1800"/>
            </a:p>
          </p:txBody>
        </p:sp>
        <p:sp>
          <p:nvSpPr>
            <p:cNvPr id="24" name="PPTX tab"/>
            <p:cNvSpPr txBox="1"/>
            <p:nvPr/>
          </p:nvSpPr>
          <p:spPr>
            <a:xfrm>
              <a:off x="2960000" y="4610000"/>
              <a:ext cx="1160000" cy="560000"/>
            </a:xfrm>
            <a:prstGeom prst="roundRect">
              <a:avLst/>
            </a:prstGeom>
            <a:solidFill>
              <a:srgbClr val="FF8066"/>
            </a:solidFill>
            <a:ln>
              <a:noFill/>
            </a:ln>
          </p:spPr>
          <p:txBody>
            <a:bodyPr wrap="square" lIns="152400" tIns="91440" rIns="152400" bIns="91440" anchor="ctr"/>
            <a:lstStyle/>
            <a:p>
              <a:pPr algn="ctr" lvl="0"/>
              <a:r>
                <a:rPr lang="en-US" sz="1000" b="1">
                  <a:solidFill>
                    <a:srgbClr val="101828"/>
                  </a:solidFill>
                  <a:latin typeface="Arial"/>
                </a:rPr>
                <a:t>PPTX</a:t>
              </a:r>
              <a:endParaRPr lang="en-US" sz="1800"/>
            </a:p>
          </p:txBody>
        </p:sp>
      </p:grpSp>
      <p:pic>
        <p:nvPicPr>
          <p:cNvPr id="90" name="Media fixture" descr="Transparent parser fixtur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192000" y="6858000"/>
            <a:ext cx="1" cy="1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